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34E4A"/>
                </a:solidFill>
              </a:rPr>
              <a:t>Executive Summary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Overall Performance Metrics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1371600"/>
            <a:ext cx="2743200" cy="27432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28800"/>
            <a:ext cx="4114800" cy="2560320"/>
          </a:xfrm>
          <a:prstGeom prst="rect">
            <a:avLst/>
          </a:prstGeom>
        </p:spPr>
      </p:pic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828800"/>
          <a:ext cx="384048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Total Sales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$1,427,598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Total Profit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$356,077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Profit Margin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24.9%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Units Sold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15,863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846320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E4A"/>
                </a:solidFill>
              </a:rPr>
              <a:t>Key Insights: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846320" y="39776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Total revenue reached $1,427K with an overall profit margin of 24.9%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Year showed decline of 24.2% from Q1 to Q4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East region leads with highest sales performance</a:t>
            </a:r>
            <a:endParaRPr lang="en-US" sz="10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Product A is the top-performing product line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Regional Performance Deep Dive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F2F1"/>
                </a:solidFill>
              </a:rPr>
              <a:t>Comparative Analysis Across Regions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029200" cy="2926080"/>
          </a:xfrm>
          <a:prstGeom prst="rect">
            <a:avLst/>
          </a:prstGeom>
        </p:spPr>
      </p:pic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371600"/>
          <a:ext cx="3017520" cy="18288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640080"/>
                <a:gridCol w="457200"/>
                <a:gridCol w="457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Sales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Profit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Margin 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Units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East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$404,755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$102,954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25.4%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4,376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South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$348,883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$89,493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25.7%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3,845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West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$345,622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$85,239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24.7%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4,096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North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$328,338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$78,391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23.9%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3,546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669280" y="3383280"/>
            <a:ext cx="3017520" cy="1463040"/>
          </a:xfrm>
          <a:prstGeom prst="rect">
            <a:avLst/>
          </a:prstGeom>
          <a:solidFill>
            <a:srgbClr val="F0FDFA"/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852160" y="35204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4E4A"/>
                </a:solidFill>
              </a:rPr>
              <a:t>Analysis: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852160" y="37947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East region dominates with $404K in total sales</a:t>
            </a:r>
            <a:endParaRPr lang="en-US" sz="9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Performance gap between top and bottom regions is 23.3%, indicating uneven market penetration</a:t>
            </a:r>
            <a:endParaRPr lang="en-US" sz="9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All regions show positive profitability, but efficiency varies significantly</a:t>
            </a:r>
            <a:endParaRPr lang="en-US" sz="9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Regional strategies should be customized based on local market dynamics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34E4A"/>
                </a:solidFill>
              </a:rPr>
              <a:t>Product Portfolio Performance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Sales and Profitability by Product Line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389120" cy="3017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0" y="1371600"/>
            <a:ext cx="3657600" cy="320040"/>
          </a:xfrm>
          <a:prstGeom prst="rect">
            <a:avLst/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4E4A"/>
                </a:solidFill>
              </a:rPr>
              <a:t>Product Metrics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737360"/>
          <a:ext cx="3657600" cy="1188720"/>
        </p:xfrm>
        <a:graphic>
          <a:graphicData uri="http://schemas.openxmlformats.org/drawingml/2006/table">
            <a:tbl>
              <a:tblPr/>
              <a:tblGrid>
                <a:gridCol w="914400"/>
                <a:gridCol w="822960"/>
                <a:gridCol w="731520"/>
                <a:gridCol w="640080"/>
                <a:gridCol w="548640"/>
              </a:tblGrid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</a:rPr>
                        <a:t>Product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</a:rPr>
                        <a:t>Sales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</a:rPr>
                        <a:t>Profit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</a:rPr>
                        <a:t>Margin 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34E4A"/>
                          </a:solidFill>
                        </a:rPr>
                        <a:t>Units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EAD4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Product A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$565,937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$140,239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24.8%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5,731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Product C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$447,518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$111,221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24.9%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5,925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Product B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$414,143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$104,617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25.3%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4,207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029200" y="3108960"/>
            <a:ext cx="3657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212080" y="32461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Key Findings: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212080" y="35204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Product A leads product portfolio with highest sales volume</a:t>
            </a:r>
            <a:endParaRPr lang="en-US" sz="9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Top product maintains strong profit margin of 24.8%</a:t>
            </a:r>
            <a:endParaRPr lang="en-US" sz="9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Product mix shows balanced performance across all three lines</a:t>
            </a:r>
            <a:endParaRPr lang="en-US" sz="900" dirty="0"/>
          </a:p>
          <a:p>
            <a:pPr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Cross-selling opportunities exist between complementary products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Strategic Recommendations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EEAD4"/>
                </a:solidFill>
              </a:rPr>
              <a:t>Action Plan for Next Quarter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004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365760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0" y="1737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4E4A"/>
                </a:solidFill>
              </a:rPr>
              <a:t>Quarterly Trends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2103120"/>
          <a:ext cx="3931920" cy="13716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Quarter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Sales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Growth 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$392,214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Baseline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$394,252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0.5%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$343,659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-12.8%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Q4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$297,473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-13.4%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5"/>
          <p:cNvSpPr/>
          <p:nvPr/>
        </p:nvSpPr>
        <p:spPr>
          <a:xfrm>
            <a:off x="640080" y="4160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STRATEGIC ACTION PLAN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22960" y="4572000"/>
            <a:ext cx="749808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EXPAND: Increase investment in East region to capitalize on market leadership</a:t>
            </a:r>
            <a:endParaRPr lang="en-US" sz="9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OPTIMIZE: Focus on improving operational efficiency in underperforming regions</a:t>
            </a:r>
            <a:endParaRPr lang="en-US" sz="9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LEVERAGE: Scale Product A production to meet growing demand</a:t>
            </a:r>
            <a:endParaRPr lang="en-US" sz="9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INNOVATE: Develop targeted marketing campaigns for Q1 to maintain momentum</a:t>
            </a:r>
            <a:endParaRPr lang="en-US" sz="900" dirty="0"/>
          </a:p>
          <a:p>
            <a:pPr marL="342900" indent="-342900">
              <a:lnSpc>
                <a:spcPts val="1400"/>
              </a:lnSpc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</a:rPr>
              <a:t>MONITOR: Implement quarterly performance reviews to track progress against targets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Comprehensive Business Analysis Report</dc:title>
  <dc:subject>PptxGenJS Presentation</dc:subject>
  <dc:creator>Automated Analysis System</dc:creator>
  <cp:lastModifiedBy>Automated Analysis System</cp:lastModifiedBy>
  <cp:revision>1</cp:revision>
  <dcterms:created xsi:type="dcterms:W3CDTF">2026-02-06T11:48:11Z</dcterms:created>
  <dcterms:modified xsi:type="dcterms:W3CDTF">2026-02-06T11:48:11Z</dcterms:modified>
</cp:coreProperties>
</file>